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nva Sans Bold" panose="020B0604020202020204" charset="0"/>
      <p:regular r:id="rId15"/>
    </p:embeddedFon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  <p:embeddedFont>
      <p:font typeface="League Spartan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62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tvishah1012@gmail.com" userId="a785b4404ee50a84" providerId="LiveId" clId="{23A935A6-CC73-4AD5-9AB6-A88610203673}"/>
    <pc:docChg chg="modSld">
      <pc:chgData name="hetvishah1012@gmail.com" userId="a785b4404ee50a84" providerId="LiveId" clId="{23A935A6-CC73-4AD5-9AB6-A88610203673}" dt="2026-03-11T07:24:52.688" v="45"/>
      <pc:docMkLst>
        <pc:docMk/>
      </pc:docMkLst>
      <pc:sldChg chg="delSp modSp mod">
        <pc:chgData name="hetvishah1012@gmail.com" userId="a785b4404ee50a84" providerId="LiveId" clId="{23A935A6-CC73-4AD5-9AB6-A88610203673}" dt="2026-03-11T07:24:52.688" v="45"/>
        <pc:sldMkLst>
          <pc:docMk/>
          <pc:sldMk cId="0" sldId="256"/>
        </pc:sldMkLst>
        <pc:spChg chg="del mod">
          <ac:chgData name="hetvishah1012@gmail.com" userId="a785b4404ee50a84" providerId="LiveId" clId="{23A935A6-CC73-4AD5-9AB6-A88610203673}" dt="2026-03-11T07:24:52.688" v="45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hetvishah1012@gmail.com" userId="a785b4404ee50a84" providerId="LiveId" clId="{23A935A6-CC73-4AD5-9AB6-A88610203673}" dt="2026-03-11T07:24:52.684" v="43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93071" y="1623231"/>
            <a:ext cx="9563110" cy="8663769"/>
            <a:chOff x="0" y="0"/>
            <a:chExt cx="12750813" cy="115516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50800" cy="11551666"/>
            </a:xfrm>
            <a:custGeom>
              <a:avLst/>
              <a:gdLst/>
              <a:ahLst/>
              <a:cxnLst/>
              <a:rect l="l" t="t" r="r" b="b"/>
              <a:pathLst>
                <a:path w="12750800" h="11551666">
                  <a:moveTo>
                    <a:pt x="0" y="0"/>
                  </a:moveTo>
                  <a:lnTo>
                    <a:pt x="12750800" y="0"/>
                  </a:lnTo>
                  <a:lnTo>
                    <a:pt x="12750800" y="11551666"/>
                  </a:lnTo>
                  <a:lnTo>
                    <a:pt x="0" y="11551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175" b="-7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98053" y="553663"/>
            <a:ext cx="12892376" cy="2034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36"/>
              </a:lnSpc>
            </a:pPr>
            <a:r>
              <a:rPr lang="en-US" sz="5900" b="1">
                <a:solidFill>
                  <a:srgbClr val="1F4FD8"/>
                </a:solidFill>
                <a:latin typeface="Inter Bold"/>
                <a:ea typeface="Inter Bold"/>
                <a:cs typeface="Inter Bold"/>
                <a:sym typeface="Inter Bold"/>
              </a:rPr>
              <a:t>Student Performance &amp; Academic Insights 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23677" y="2381745"/>
            <a:ext cx="124425" cy="972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0"/>
              </a:lnSpc>
            </a:pPr>
            <a:r>
              <a:rPr lang="en-US" sz="3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8053" y="2743695"/>
            <a:ext cx="13409295" cy="60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Analyzing student performance, attendance, and learning factors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3039" y="5531001"/>
            <a:ext cx="6491773" cy="162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51"/>
              </a:lnSpc>
            </a:pPr>
            <a:r>
              <a:rPr lang="en-US" sz="4702" spc="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Name: Hetvi shah Enroll:2304030100505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9004497"/>
            <a:ext cx="5616988" cy="784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2"/>
              </a:lnSpc>
            </a:pPr>
            <a:r>
              <a:rPr lang="en-US" sz="4515">
                <a:solidFill>
                  <a:srgbClr val="1F4FD8"/>
                </a:solidFill>
                <a:latin typeface="Inter"/>
                <a:ea typeface="Inter"/>
                <a:cs typeface="Inter"/>
                <a:sym typeface="Inter"/>
              </a:rPr>
              <a:t>Silver oak university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1028700"/>
            <a:ext cx="8115300" cy="8229600"/>
            <a:chOff x="0" y="0"/>
            <a:chExt cx="108204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20400" cy="10972800"/>
            </a:xfrm>
            <a:custGeom>
              <a:avLst/>
              <a:gdLst/>
              <a:ahLst/>
              <a:cxnLst/>
              <a:rect l="l" t="t" r="r" b="b"/>
              <a:pathLst>
                <a:path w="10820400" h="10972800">
                  <a:moveTo>
                    <a:pt x="508000" y="0"/>
                  </a:moveTo>
                  <a:cubicBezTo>
                    <a:pt x="227457" y="0"/>
                    <a:pt x="0" y="227457"/>
                    <a:pt x="0" y="508000"/>
                  </a:cubicBezTo>
                  <a:lnTo>
                    <a:pt x="0" y="10464800"/>
                  </a:lnTo>
                  <a:cubicBezTo>
                    <a:pt x="0" y="10745343"/>
                    <a:pt x="227457" y="10972800"/>
                    <a:pt x="508000" y="10972800"/>
                  </a:cubicBezTo>
                  <a:lnTo>
                    <a:pt x="10312400" y="10972800"/>
                  </a:lnTo>
                  <a:cubicBezTo>
                    <a:pt x="10592943" y="10972800"/>
                    <a:pt x="10820400" y="10745343"/>
                    <a:pt x="10820400" y="10464800"/>
                  </a:cubicBezTo>
                  <a:lnTo>
                    <a:pt x="10820400" y="508000"/>
                  </a:lnTo>
                  <a:cubicBezTo>
                    <a:pt x="10820400" y="227457"/>
                    <a:pt x="10592943" y="0"/>
                    <a:pt x="10312400" y="0"/>
                  </a:cubicBezTo>
                  <a:close/>
                </a:path>
              </a:pathLst>
            </a:custGeom>
            <a:blipFill>
              <a:blip r:embed="rId2"/>
              <a:stretch>
                <a:fillRect l="-25987" r="-25965" b="-15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92889" y="847725"/>
            <a:ext cx="5389166" cy="16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08334" y="2374906"/>
            <a:ext cx="6021150" cy="156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3345" y="3865251"/>
            <a:ext cx="9144000" cy="5913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Schools often struggle to </a:t>
            </a:r>
          </a:p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identify why some students </a:t>
            </a:r>
          </a:p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 better than others. </a:t>
            </a:r>
          </a:p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analyzing academic scores, </a:t>
            </a:r>
          </a:p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attendance, and study habits, </a:t>
            </a:r>
          </a:p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dashboard helps identify </a:t>
            </a:r>
          </a:p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factors affecting student </a:t>
            </a:r>
          </a:p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91308" y="2551843"/>
            <a:ext cx="11972925" cy="7218064"/>
            <a:chOff x="0" y="0"/>
            <a:chExt cx="15963900" cy="96240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963900" cy="9624060"/>
            </a:xfrm>
            <a:custGeom>
              <a:avLst/>
              <a:gdLst/>
              <a:ahLst/>
              <a:cxnLst/>
              <a:rect l="l" t="t" r="r" b="b"/>
              <a:pathLst>
                <a:path w="15963900" h="9624060">
                  <a:moveTo>
                    <a:pt x="0" y="0"/>
                  </a:moveTo>
                  <a:lnTo>
                    <a:pt x="15963900" y="0"/>
                  </a:lnTo>
                  <a:lnTo>
                    <a:pt x="15963900" y="9624060"/>
                  </a:lnTo>
                  <a:lnTo>
                    <a:pt x="0" y="9624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8500" r="-469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53675" y="804901"/>
            <a:ext cx="12248817" cy="123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22"/>
              </a:lnSpc>
            </a:pPr>
            <a:r>
              <a:rPr lang="en-US" sz="7087" b="1">
                <a:solidFill>
                  <a:srgbClr val="1F4F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 Fields You have :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53" y="826227"/>
            <a:ext cx="15382875" cy="8639175"/>
            <a:chOff x="0" y="0"/>
            <a:chExt cx="20510500" cy="11518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10500" cy="11518900"/>
            </a:xfrm>
            <a:custGeom>
              <a:avLst/>
              <a:gdLst/>
              <a:ahLst/>
              <a:cxnLst/>
              <a:rect l="l" t="t" r="r" b="b"/>
              <a:pathLst>
                <a:path w="20510500" h="11518900">
                  <a:moveTo>
                    <a:pt x="0" y="0"/>
                  </a:moveTo>
                  <a:lnTo>
                    <a:pt x="20510500" y="0"/>
                  </a:lnTo>
                  <a:lnTo>
                    <a:pt x="20510500" y="11518900"/>
                  </a:lnTo>
                  <a:lnTo>
                    <a:pt x="0" y="1151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28700"/>
            <a:ext cx="6413497" cy="9258300"/>
            <a:chOff x="0" y="0"/>
            <a:chExt cx="8551329" cy="1234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51291" cy="12344400"/>
            </a:xfrm>
            <a:custGeom>
              <a:avLst/>
              <a:gdLst/>
              <a:ahLst/>
              <a:cxnLst/>
              <a:rect l="l" t="t" r="r" b="b"/>
              <a:pathLst>
                <a:path w="8551291" h="12344400">
                  <a:moveTo>
                    <a:pt x="0" y="0"/>
                  </a:moveTo>
                  <a:lnTo>
                    <a:pt x="0" y="12344400"/>
                  </a:lnTo>
                  <a:lnTo>
                    <a:pt x="8543417" y="12344400"/>
                  </a:lnTo>
                  <a:cubicBezTo>
                    <a:pt x="8548624" y="12315190"/>
                    <a:pt x="8551291" y="12285218"/>
                    <a:pt x="8551291" y="12254611"/>
                  </a:cubicBezTo>
                  <a:lnTo>
                    <a:pt x="8551291" y="508000"/>
                  </a:lnTo>
                  <a:cubicBezTo>
                    <a:pt x="8551291" y="227457"/>
                    <a:pt x="8323835" y="0"/>
                    <a:pt x="8043291" y="0"/>
                  </a:cubicBezTo>
                  <a:close/>
                </a:path>
              </a:pathLst>
            </a:custGeom>
            <a:blipFill>
              <a:blip r:embed="rId2"/>
              <a:stretch>
                <a:fillRect l="-86342" r="-37830" b="-33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765380" y="-171583"/>
            <a:ext cx="9457115" cy="1323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77"/>
              </a:lnSpc>
            </a:pPr>
            <a:r>
              <a:rPr lang="en-US" sz="6677" b="1">
                <a:solidFill>
                  <a:srgbClr val="1F4F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Some DAX Formulas: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80797" y="1163860"/>
            <a:ext cx="187138" cy="120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60"/>
              </a:lnSpc>
            </a:pPr>
            <a:r>
              <a:rPr lang="en-US" sz="5264">
                <a:solidFill>
                  <a:srgbClr val="1F4FD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72646" y="2277894"/>
            <a:ext cx="10584504" cy="177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7"/>
              </a:lnSpc>
            </a:pPr>
            <a:r>
              <a:rPr lang="en-US" sz="349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Total Students = COUNT(student_info[student_id])</a:t>
            </a:r>
          </a:p>
          <a:p>
            <a:pPr algn="l">
              <a:lnSpc>
                <a:spcPts val="7221"/>
              </a:lnSpc>
            </a:pPr>
            <a:r>
              <a:rPr lang="en-US" sz="5157">
                <a:solidFill>
                  <a:srgbClr val="1F4FD8"/>
                </a:solidFill>
                <a:latin typeface="Inter"/>
                <a:ea typeface="Inter"/>
                <a:cs typeface="Inter"/>
                <a:sym typeface="Inter"/>
              </a:rPr>
              <a:t>Average Math Score: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72646" y="1459135"/>
            <a:ext cx="4725838" cy="90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70"/>
              </a:lnSpc>
            </a:pPr>
            <a:r>
              <a:rPr lang="en-US" sz="5264">
                <a:solidFill>
                  <a:srgbClr val="1F4FD8"/>
                </a:solidFill>
                <a:latin typeface="Inter"/>
                <a:ea typeface="Inter"/>
                <a:cs typeface="Inter"/>
                <a:sym typeface="Inter"/>
              </a:rPr>
              <a:t>Total</a:t>
            </a:r>
            <a:r>
              <a:rPr lang="en-US" sz="52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264">
                <a:solidFill>
                  <a:srgbClr val="1F4FD8"/>
                </a:solidFill>
                <a:latin typeface="Inter"/>
                <a:ea typeface="Inter"/>
                <a:cs typeface="Inter"/>
                <a:sym typeface="Inter"/>
              </a:rPr>
              <a:t>Students: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14490" y="3948503"/>
            <a:ext cx="12009196" cy="713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2"/>
              </a:lnSpc>
            </a:pPr>
            <a:r>
              <a:rPr lang="en-US" sz="410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Avg Math = AVERAGE(student_info[math_score])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72646" y="4977994"/>
            <a:ext cx="6321781" cy="827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6"/>
              </a:lnSpc>
            </a:pPr>
            <a:r>
              <a:rPr lang="en-US" sz="4982">
                <a:solidFill>
                  <a:srgbClr val="1F4FD8"/>
                </a:solidFill>
                <a:latin typeface="Inter"/>
                <a:ea typeface="Inter"/>
                <a:cs typeface="Inter"/>
                <a:sym typeface="Inter"/>
              </a:rPr>
              <a:t>Average Attendance: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2263" y="5796944"/>
            <a:ext cx="146647" cy="696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0"/>
              </a:lnSpc>
            </a:pPr>
            <a:r>
              <a:rPr lang="en-US" sz="41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96767" y="5787419"/>
            <a:ext cx="4414714" cy="706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2"/>
              </a:lnSpc>
            </a:pPr>
            <a:r>
              <a:rPr lang="en-US" sz="41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AvgAttendance =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84365" y="6510480"/>
            <a:ext cx="10356704" cy="706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2"/>
              </a:lnSpc>
            </a:pPr>
            <a:r>
              <a:rPr lang="en-US" sz="41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AVERAGE(student_info[attendance_rate])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99704" y="7439568"/>
            <a:ext cx="4565971" cy="71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93"/>
              </a:lnSpc>
            </a:pPr>
            <a:r>
              <a:rPr lang="en-US" sz="4209">
                <a:solidFill>
                  <a:srgbClr val="1F4FD8"/>
                </a:solidFill>
                <a:latin typeface="Inter"/>
                <a:ea typeface="Inter"/>
                <a:cs typeface="Inter"/>
                <a:sym typeface="Inter"/>
              </a:rPr>
              <a:t>Pass Percentage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64360" y="8372808"/>
            <a:ext cx="11712521" cy="1236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1"/>
              </a:lnSpc>
            </a:pPr>
            <a:r>
              <a:rPr lang="en-US" sz="23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Pass Rate =DIVIDE( CALCULATE(COUNT(student_info[final_result]), student_info[final_result]="Pass"), COUNT(student_ info[final_ result]))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0026" y="238687"/>
            <a:ext cx="17030700" cy="9515475"/>
            <a:chOff x="0" y="0"/>
            <a:chExt cx="22707600" cy="12687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07600" cy="12687300"/>
            </a:xfrm>
            <a:custGeom>
              <a:avLst/>
              <a:gdLst/>
              <a:ahLst/>
              <a:cxnLst/>
              <a:rect l="l" t="t" r="r" b="b"/>
              <a:pathLst>
                <a:path w="22707600" h="12687300">
                  <a:moveTo>
                    <a:pt x="0" y="0"/>
                  </a:moveTo>
                  <a:lnTo>
                    <a:pt x="22707600" y="0"/>
                  </a:lnTo>
                  <a:lnTo>
                    <a:pt x="22707600" y="12687300"/>
                  </a:lnTo>
                  <a:lnTo>
                    <a:pt x="0" y="1268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931" y="311963"/>
            <a:ext cx="16916400" cy="9496425"/>
            <a:chOff x="0" y="0"/>
            <a:chExt cx="22555200" cy="12661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55200" cy="12661900"/>
            </a:xfrm>
            <a:custGeom>
              <a:avLst/>
              <a:gdLst/>
              <a:ahLst/>
              <a:cxnLst/>
              <a:rect l="l" t="t" r="r" b="b"/>
              <a:pathLst>
                <a:path w="22555200" h="12661900">
                  <a:moveTo>
                    <a:pt x="0" y="0"/>
                  </a:moveTo>
                  <a:lnTo>
                    <a:pt x="22555200" y="0"/>
                  </a:lnTo>
                  <a:lnTo>
                    <a:pt x="22555200" y="12661900"/>
                  </a:lnTo>
                  <a:lnTo>
                    <a:pt x="0" y="1266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12510" y="4374909"/>
            <a:ext cx="5321741" cy="5241741"/>
            <a:chOff x="0" y="0"/>
            <a:chExt cx="7095655" cy="69889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95744" cy="6988937"/>
            </a:xfrm>
            <a:custGeom>
              <a:avLst/>
              <a:gdLst/>
              <a:ahLst/>
              <a:cxnLst/>
              <a:rect l="l" t="t" r="r" b="b"/>
              <a:pathLst>
                <a:path w="7095744" h="6988937">
                  <a:moveTo>
                    <a:pt x="508000" y="0"/>
                  </a:moveTo>
                  <a:cubicBezTo>
                    <a:pt x="373253" y="0"/>
                    <a:pt x="244094" y="53467"/>
                    <a:pt x="148844" y="148844"/>
                  </a:cubicBezTo>
                  <a:cubicBezTo>
                    <a:pt x="53594" y="244221"/>
                    <a:pt x="0" y="373253"/>
                    <a:pt x="0" y="508000"/>
                  </a:cubicBezTo>
                  <a:lnTo>
                    <a:pt x="0" y="6480937"/>
                  </a:lnTo>
                  <a:cubicBezTo>
                    <a:pt x="0" y="6615684"/>
                    <a:pt x="53467" y="6744843"/>
                    <a:pt x="148844" y="6840093"/>
                  </a:cubicBezTo>
                  <a:cubicBezTo>
                    <a:pt x="243840" y="6935089"/>
                    <a:pt x="372618" y="6988556"/>
                    <a:pt x="506984" y="6988937"/>
                  </a:cubicBezTo>
                  <a:lnTo>
                    <a:pt x="6588760" y="6988937"/>
                  </a:lnTo>
                  <a:cubicBezTo>
                    <a:pt x="6723126" y="6988683"/>
                    <a:pt x="6851903" y="6935216"/>
                    <a:pt x="6946900" y="6840093"/>
                  </a:cubicBezTo>
                  <a:cubicBezTo>
                    <a:pt x="7042150" y="6744843"/>
                    <a:pt x="7095744" y="6615557"/>
                    <a:pt x="7095744" y="6480937"/>
                  </a:cubicBezTo>
                  <a:lnTo>
                    <a:pt x="7095744" y="508000"/>
                  </a:lnTo>
                  <a:cubicBezTo>
                    <a:pt x="7095744" y="373253"/>
                    <a:pt x="7042277" y="244094"/>
                    <a:pt x="6946900" y="148844"/>
                  </a:cubicBezTo>
                  <a:cubicBezTo>
                    <a:pt x="6851523" y="53594"/>
                    <a:pt x="6722364" y="0"/>
                    <a:pt x="6587617" y="0"/>
                  </a:cubicBezTo>
                  <a:close/>
                </a:path>
              </a:pathLst>
            </a:custGeom>
            <a:blipFill>
              <a:blip r:embed="rId2"/>
              <a:stretch>
                <a:fillRect l="-23918" r="-2382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938" y="362045"/>
            <a:ext cx="13522338" cy="1176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4"/>
              </a:lnSpc>
            </a:pPr>
            <a:r>
              <a:rPr lang="en-US" sz="6774" b="1">
                <a:solidFill>
                  <a:srgbClr val="1F4F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Key Insights from 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339" y="2227459"/>
            <a:ext cx="14752241" cy="812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2"/>
              </a:lnSpc>
            </a:pPr>
            <a:r>
              <a:rPr lang="en-US" sz="4773" b="1">
                <a:solidFill>
                  <a:srgbClr val="1F4FD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Key Insights from Education Analytics Dashboard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639" y="4111400"/>
            <a:ext cx="9103361" cy="778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0225" lvl="1" indent="-495112" algn="l">
              <a:lnSpc>
                <a:spcPts val="6421"/>
              </a:lnSpc>
              <a:buAutoNum type="arabicPeriod"/>
            </a:pPr>
            <a:r>
              <a:rPr lang="en-US" sz="4586">
                <a:solidFill>
                  <a:srgbClr val="13249D"/>
                </a:solidFill>
                <a:latin typeface="Inter"/>
                <a:ea typeface="Inter"/>
                <a:cs typeface="Inter"/>
                <a:sym typeface="Inter"/>
              </a:rPr>
              <a:t>Study Hours vs Performance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6339" y="5623678"/>
            <a:ext cx="10309679" cy="87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588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Students who study more than 3–4 hours daily achieve higher academic scores.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6339" y="6957679"/>
            <a:ext cx="10965599" cy="87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588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Scatter plot analysis shows a positive relationship between study hours and math scores.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70090" y="224704"/>
            <a:ext cx="5935532" cy="4918796"/>
            <a:chOff x="0" y="0"/>
            <a:chExt cx="7914043" cy="65583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14005" cy="6558407"/>
            </a:xfrm>
            <a:custGeom>
              <a:avLst/>
              <a:gdLst/>
              <a:ahLst/>
              <a:cxnLst/>
              <a:rect l="l" t="t" r="r" b="b"/>
              <a:pathLst>
                <a:path w="7914005" h="6558407">
                  <a:moveTo>
                    <a:pt x="0" y="0"/>
                  </a:moveTo>
                  <a:lnTo>
                    <a:pt x="7914005" y="0"/>
                  </a:lnTo>
                  <a:lnTo>
                    <a:pt x="7914005" y="6558407"/>
                  </a:lnTo>
                  <a:lnTo>
                    <a:pt x="0" y="6558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09297" y="7820873"/>
            <a:ext cx="7442197" cy="2529630"/>
            <a:chOff x="0" y="0"/>
            <a:chExt cx="7442200" cy="2529637"/>
          </a:xfrm>
        </p:grpSpPr>
        <p:sp>
          <p:nvSpPr>
            <p:cNvPr id="5" name="Freeform 5"/>
            <p:cNvSpPr/>
            <p:nvPr/>
          </p:nvSpPr>
          <p:spPr>
            <a:xfrm>
              <a:off x="63500" y="64516"/>
              <a:ext cx="7314565" cy="2401575"/>
            </a:xfrm>
            <a:custGeom>
              <a:avLst/>
              <a:gdLst/>
              <a:ahLst/>
              <a:cxnLst/>
              <a:rect l="l" t="t" r="r" b="b"/>
              <a:pathLst>
                <a:path w="7314565" h="2401575">
                  <a:moveTo>
                    <a:pt x="5993003" y="0"/>
                  </a:moveTo>
                  <a:lnTo>
                    <a:pt x="5943727" y="49276"/>
                  </a:lnTo>
                  <a:cubicBezTo>
                    <a:pt x="6035675" y="141224"/>
                    <a:pt x="6235192" y="291085"/>
                    <a:pt x="6556756" y="291085"/>
                  </a:cubicBezTo>
                  <a:cubicBezTo>
                    <a:pt x="6710553" y="291085"/>
                    <a:pt x="6892290" y="256795"/>
                    <a:pt x="7103491" y="165482"/>
                  </a:cubicBezTo>
                  <a:lnTo>
                    <a:pt x="4906645" y="2362205"/>
                  </a:lnTo>
                  <a:lnTo>
                    <a:pt x="0" y="2362205"/>
                  </a:lnTo>
                  <a:lnTo>
                    <a:pt x="0" y="2401576"/>
                  </a:lnTo>
                  <a:lnTo>
                    <a:pt x="4965700" y="2401576"/>
                  </a:lnTo>
                  <a:lnTo>
                    <a:pt x="7143750" y="223521"/>
                  </a:lnTo>
                  <a:cubicBezTo>
                    <a:pt x="6870192" y="868555"/>
                    <a:pt x="7130288" y="1235840"/>
                    <a:pt x="7265289" y="1370714"/>
                  </a:cubicBezTo>
                  <a:lnTo>
                    <a:pt x="7314565" y="1321438"/>
                  </a:lnTo>
                  <a:cubicBezTo>
                    <a:pt x="7177659" y="1184659"/>
                    <a:pt x="6902069" y="787910"/>
                    <a:pt x="7299198" y="62484"/>
                  </a:cubicBezTo>
                  <a:lnTo>
                    <a:pt x="7251954" y="15240"/>
                  </a:lnTo>
                  <a:cubicBezTo>
                    <a:pt x="6973316" y="167768"/>
                    <a:pt x="6743065" y="221108"/>
                    <a:pt x="6557518" y="221108"/>
                  </a:cubicBezTo>
                  <a:cubicBezTo>
                    <a:pt x="6260084" y="221108"/>
                    <a:pt x="6077331" y="84201"/>
                    <a:pt x="5993003" y="0"/>
                  </a:cubicBezTo>
                  <a:close/>
                </a:path>
              </a:pathLst>
            </a:custGeom>
            <a:solidFill>
              <a:srgbClr val="343AC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500" y="63500"/>
              <a:ext cx="7315200" cy="2402591"/>
            </a:xfrm>
            <a:custGeom>
              <a:avLst/>
              <a:gdLst/>
              <a:ahLst/>
              <a:cxnLst/>
              <a:rect l="l" t="t" r="r" b="b"/>
              <a:pathLst>
                <a:path w="7315200" h="2402591">
                  <a:moveTo>
                    <a:pt x="0" y="0"/>
                  </a:moveTo>
                  <a:lnTo>
                    <a:pt x="0" y="2402591"/>
                  </a:lnTo>
                  <a:lnTo>
                    <a:pt x="7315200" y="2402591"/>
                  </a:lnTo>
                  <a:lnTo>
                    <a:pt x="7315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17346" y="660778"/>
            <a:ext cx="6612096" cy="580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3249D"/>
                </a:solidFill>
                <a:latin typeface="Inter"/>
                <a:ea typeface="Inter"/>
                <a:cs typeface="Inter"/>
                <a:sym typeface="Inter"/>
              </a:rPr>
              <a:t>2.Attendance Impact on Results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940" y="1488824"/>
            <a:ext cx="10643077" cy="70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232" lvl="1" indent="-280616" algn="l">
              <a:lnSpc>
                <a:spcPts val="6498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Students with attendance above 85% perform significantly better.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0940" y="2403224"/>
            <a:ext cx="9208215" cy="70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232" lvl="1" indent="-280616" algn="l">
              <a:lnSpc>
                <a:spcPts val="6498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Low attendance students show higher chances of failing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0940" y="4539786"/>
            <a:ext cx="12934871" cy="70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232" lvl="1" indent="-280616" algn="l">
              <a:lnSpc>
                <a:spcPts val="6498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Students with internet access demonstrate slightly better academic performance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0940" y="5454186"/>
            <a:ext cx="10490200" cy="70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232" lvl="1" indent="-280616" algn="l">
              <a:lnSpc>
                <a:spcPts val="6498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Access to online learning resources supports academic success.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7346" y="3743182"/>
            <a:ext cx="5896928" cy="596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13249D"/>
                </a:solidFill>
                <a:latin typeface="Inter"/>
                <a:ea typeface="Inter"/>
                <a:cs typeface="Inter"/>
                <a:sym typeface="Inter"/>
              </a:rPr>
              <a:t>3.Internet Access Influence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7346" y="6582337"/>
            <a:ext cx="5045551" cy="54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13249D"/>
                </a:solidFill>
                <a:latin typeface="Inter"/>
                <a:ea typeface="Inter"/>
                <a:cs typeface="Inter"/>
                <a:sym typeface="Inter"/>
              </a:rPr>
              <a:t>4.Parent Education Effect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0940" y="7563274"/>
            <a:ext cx="12888517" cy="76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466" lvl="1" indent="-302233" algn="l">
              <a:lnSpc>
                <a:spcPts val="69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Students whose parents have higher education levels tend to score better.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552817"/>
            <a:ext cx="12484736" cy="76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466" lvl="1" indent="-302233" algn="l">
              <a:lnSpc>
                <a:spcPts val="69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Family educational background positively influences learning outcomes.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59964" y="0"/>
            <a:ext cx="6143625" cy="8020050"/>
            <a:chOff x="0" y="0"/>
            <a:chExt cx="8191500" cy="10693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91500" cy="10693400"/>
            </a:xfrm>
            <a:custGeom>
              <a:avLst/>
              <a:gdLst/>
              <a:ahLst/>
              <a:cxnLst/>
              <a:rect l="l" t="t" r="r" b="b"/>
              <a:pathLst>
                <a:path w="8191500" h="10693400">
                  <a:moveTo>
                    <a:pt x="0" y="0"/>
                  </a:moveTo>
                  <a:lnTo>
                    <a:pt x="8191500" y="0"/>
                  </a:lnTo>
                  <a:lnTo>
                    <a:pt x="81915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347" r="-620" b="-28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17417" y="600075"/>
            <a:ext cx="907430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13249D"/>
                </a:solidFill>
                <a:latin typeface="Inter"/>
                <a:ea typeface="Inter"/>
                <a:cs typeface="Inter"/>
                <a:sym typeface="Inter"/>
              </a:rPr>
              <a:t>5.Extra Activities and Engagement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99792" y="1822323"/>
            <a:ext cx="9965922" cy="774497"/>
            <a:chOff x="0" y="0"/>
            <a:chExt cx="13287896" cy="1032662"/>
          </a:xfrm>
        </p:grpSpPr>
        <p:sp>
          <p:nvSpPr>
            <p:cNvPr id="6" name="TextBox 6"/>
            <p:cNvSpPr txBox="1"/>
            <p:nvPr/>
          </p:nvSpPr>
          <p:spPr>
            <a:xfrm>
              <a:off x="0" y="-38100"/>
              <a:ext cx="13287896" cy="5544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l">
                <a:lnSpc>
                  <a:spcPts val="3595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Students participating in extra activities show better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06098" y="478231"/>
              <a:ext cx="10448684" cy="5544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5"/>
                </a:lnSpc>
              </a:pPr>
              <a:r>
                <a:rPr lang="en-US" sz="26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engagement and balanced performance.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99792" y="3282601"/>
            <a:ext cx="7654925" cy="873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595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Activities may improve confidence, discipline, </a:t>
            </a:r>
          </a:p>
          <a:p>
            <a:pPr algn="l">
              <a:lnSpc>
                <a:spcPts val="3595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and social skills.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7417" y="4857178"/>
            <a:ext cx="813300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13249D"/>
                </a:solidFill>
                <a:latin typeface="Inter"/>
                <a:ea typeface="Inter"/>
                <a:cs typeface="Inter"/>
                <a:sym typeface="Inter"/>
              </a:rPr>
              <a:t>6.Subject Performance Trends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9792" y="6120140"/>
            <a:ext cx="7870111" cy="713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65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scores show variation across subjects.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99792" y="7420619"/>
            <a:ext cx="16156572" cy="87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Some students perform better in reading and writing </a:t>
            </a:r>
          </a:p>
          <a:p>
            <a:pPr algn="l">
              <a:lnSpc>
                <a:spcPts val="2600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compared to mathematics.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59041" y="4527871"/>
            <a:ext cx="7883328" cy="5692130"/>
          </a:xfrm>
          <a:custGeom>
            <a:avLst/>
            <a:gdLst/>
            <a:ahLst/>
            <a:cxnLst/>
            <a:rect l="l" t="t" r="r" b="b"/>
            <a:pathLst>
              <a:path w="7883328" h="5692130">
                <a:moveTo>
                  <a:pt x="0" y="0"/>
                </a:moveTo>
                <a:lnTo>
                  <a:pt x="7883328" y="0"/>
                </a:lnTo>
                <a:lnTo>
                  <a:pt x="7883328" y="5692130"/>
                </a:lnTo>
                <a:lnTo>
                  <a:pt x="0" y="5692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414768" y="9037291"/>
            <a:ext cx="629555" cy="29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51" spc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Item 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21322" y="7931801"/>
            <a:ext cx="623907" cy="29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51" spc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Item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21264" y="6826310"/>
            <a:ext cx="620878" cy="29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51" spc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Item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73719" y="5720820"/>
            <a:ext cx="577625" cy="29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51" spc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Item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19199" y="9718338"/>
            <a:ext cx="134169" cy="29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72518" y="9718338"/>
            <a:ext cx="219113" cy="29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79899" y="4848987"/>
            <a:ext cx="765077" cy="29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51" spc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Series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42943" y="9718338"/>
            <a:ext cx="262376" cy="29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05030" y="4848987"/>
            <a:ext cx="808339" cy="29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51" spc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Series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39591" y="9718338"/>
            <a:ext cx="265405" cy="29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82605" y="4848987"/>
            <a:ext cx="811368" cy="29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51" spc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Series 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31733" y="9718338"/>
            <a:ext cx="271043" cy="29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531963" y="9718338"/>
            <a:ext cx="260290" cy="29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5100" y="971417"/>
            <a:ext cx="4108609" cy="100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1F4FD8"/>
                </a:solidFill>
                <a:latin typeface="Inter"/>
                <a:ea typeface="Inter"/>
                <a:cs typeface="Inter"/>
                <a:sym typeface="Inter"/>
              </a:rPr>
              <a:t>Conclusion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4006" y="2813422"/>
            <a:ext cx="13947667" cy="120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542" lvl="1" indent="-377771" algn="l">
              <a:lnSpc>
                <a:spcPts val="4874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Education Analytics dashboard provides valuable insights into student performance and learning behavior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4006" y="4505506"/>
            <a:ext cx="10889362" cy="624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25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Factors such as study hours, attendance, and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8702" y="5072691"/>
            <a:ext cx="9330519" cy="625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3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access to resources significantly influence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8702" y="5692245"/>
            <a:ext cx="3802704" cy="625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3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academic results.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4006" y="7307261"/>
            <a:ext cx="10438130" cy="600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704" lvl="1" indent="-377852" algn="l">
              <a:lnSpc>
                <a:spcPts val="487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Interactive visualizations help identify patterns,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2371" y="7859641"/>
            <a:ext cx="8001629" cy="60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strengths, and areas for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49868" y="3262782"/>
            <a:ext cx="7838132" cy="5441975"/>
            <a:chOff x="0" y="0"/>
            <a:chExt cx="10450843" cy="72559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50830" cy="7256018"/>
            </a:xfrm>
            <a:custGeom>
              <a:avLst/>
              <a:gdLst/>
              <a:ahLst/>
              <a:cxnLst/>
              <a:rect l="l" t="t" r="r" b="b"/>
              <a:pathLst>
                <a:path w="10450830" h="7256018">
                  <a:moveTo>
                    <a:pt x="508000" y="0"/>
                  </a:moveTo>
                  <a:cubicBezTo>
                    <a:pt x="227457" y="0"/>
                    <a:pt x="0" y="227457"/>
                    <a:pt x="0" y="508000"/>
                  </a:cubicBezTo>
                  <a:lnTo>
                    <a:pt x="0" y="6748018"/>
                  </a:lnTo>
                  <a:cubicBezTo>
                    <a:pt x="0" y="7028435"/>
                    <a:pt x="227203" y="7255764"/>
                    <a:pt x="507492" y="7256018"/>
                  </a:cubicBezTo>
                  <a:lnTo>
                    <a:pt x="9943338" y="7256018"/>
                  </a:lnTo>
                  <a:cubicBezTo>
                    <a:pt x="10223627" y="7255764"/>
                    <a:pt x="10450830" y="7028435"/>
                    <a:pt x="10450830" y="6748018"/>
                  </a:cubicBezTo>
                  <a:lnTo>
                    <a:pt x="10450830" y="508000"/>
                  </a:lnTo>
                  <a:cubicBezTo>
                    <a:pt x="10450830" y="227457"/>
                    <a:pt x="10223373" y="0"/>
                    <a:pt x="9942830" y="0"/>
                  </a:cubicBezTo>
                  <a:close/>
                </a:path>
              </a:pathLst>
            </a:custGeom>
            <a:blipFill>
              <a:blip r:embed="rId2"/>
              <a:stretch>
                <a:fillRect l="-2024" r="-211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927987" y="3007624"/>
            <a:ext cx="138636" cy="1081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3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1906648" cy="1054735"/>
            <a:chOff x="0" y="0"/>
            <a:chExt cx="15875530" cy="1406313"/>
          </a:xfrm>
        </p:grpSpPr>
        <p:sp>
          <p:nvSpPr>
            <p:cNvPr id="6" name="TextBox 6"/>
            <p:cNvSpPr txBox="1"/>
            <p:nvPr/>
          </p:nvSpPr>
          <p:spPr>
            <a:xfrm>
              <a:off x="0" y="-66675"/>
              <a:ext cx="15875530" cy="7698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51" lvl="1" indent="-377825" algn="l">
                <a:lnSpc>
                  <a:spcPts val="4847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The dashboardenablesdata-drivendecision-making 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885" y="636482"/>
              <a:ext cx="9123642" cy="7698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47"/>
                </a:lnSpc>
              </a:pPr>
              <a:r>
                <a:rPr lang="en-US" sz="3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for educators and institutions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4163092"/>
            <a:ext cx="8760333" cy="59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833"/>
              </a:lnSpc>
              <a:buFont typeface="Arial"/>
              <a:buChar char="•"/>
            </a:pPr>
            <a:r>
              <a:rPr lang="en-US" sz="3500" spc="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Such analytical tools can help identify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4538" y="4778350"/>
            <a:ext cx="8888149" cy="120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3"/>
              </a:lnSpc>
            </a:pPr>
            <a:r>
              <a:rPr lang="en-US" sz="3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struggling students early and improve educational strategies.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1028700"/>
            <a:ext cx="8115300" cy="8229600"/>
            <a:chOff x="0" y="0"/>
            <a:chExt cx="108204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20400" cy="10972800"/>
            </a:xfrm>
            <a:custGeom>
              <a:avLst/>
              <a:gdLst/>
              <a:ahLst/>
              <a:cxnLst/>
              <a:rect l="l" t="t" r="r" b="b"/>
              <a:pathLst>
                <a:path w="10820400" h="10972800">
                  <a:moveTo>
                    <a:pt x="508000" y="0"/>
                  </a:moveTo>
                  <a:cubicBezTo>
                    <a:pt x="227457" y="0"/>
                    <a:pt x="0" y="227457"/>
                    <a:pt x="0" y="508000"/>
                  </a:cubicBezTo>
                  <a:lnTo>
                    <a:pt x="0" y="10464800"/>
                  </a:lnTo>
                  <a:cubicBezTo>
                    <a:pt x="0" y="10745343"/>
                    <a:pt x="227457" y="10972800"/>
                    <a:pt x="508000" y="10972800"/>
                  </a:cubicBezTo>
                  <a:lnTo>
                    <a:pt x="10312400" y="10972800"/>
                  </a:lnTo>
                  <a:cubicBezTo>
                    <a:pt x="10592943" y="10972800"/>
                    <a:pt x="10820400" y="10745343"/>
                    <a:pt x="10820400" y="10464800"/>
                  </a:cubicBezTo>
                  <a:lnTo>
                    <a:pt x="10820400" y="508000"/>
                  </a:lnTo>
                  <a:cubicBezTo>
                    <a:pt x="10820400" y="227457"/>
                    <a:pt x="10592943" y="0"/>
                    <a:pt x="10312400" y="0"/>
                  </a:cubicBezTo>
                  <a:close/>
                </a:path>
              </a:pathLst>
            </a:custGeom>
            <a:blipFill>
              <a:blip r:embed="rId2"/>
              <a:stretch>
                <a:fillRect l="-25987" r="-25965" b="-15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261164" y="3800932"/>
            <a:ext cx="1781108" cy="1727349"/>
            <a:chOff x="0" y="0"/>
            <a:chExt cx="1781099" cy="1727352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654043" cy="1600205"/>
            </a:xfrm>
            <a:custGeom>
              <a:avLst/>
              <a:gdLst/>
              <a:ahLst/>
              <a:cxnLst/>
              <a:rect l="l" t="t" r="r" b="b"/>
              <a:pathLst>
                <a:path w="1654043" h="1600205">
                  <a:moveTo>
                    <a:pt x="600454" y="468124"/>
                  </a:moveTo>
                  <a:lnTo>
                    <a:pt x="1490467" y="468124"/>
                  </a:lnTo>
                  <a:lnTo>
                    <a:pt x="1086862" y="60325"/>
                  </a:lnTo>
                  <a:lnTo>
                    <a:pt x="1148203" y="0"/>
                  </a:lnTo>
                  <a:lnTo>
                    <a:pt x="1654043" y="511177"/>
                  </a:lnTo>
                  <a:lnTo>
                    <a:pt x="1148203" y="1022354"/>
                  </a:lnTo>
                  <a:lnTo>
                    <a:pt x="1086862" y="962028"/>
                  </a:lnTo>
                  <a:lnTo>
                    <a:pt x="1490467" y="553087"/>
                  </a:lnTo>
                  <a:lnTo>
                    <a:pt x="600454" y="553087"/>
                  </a:lnTo>
                  <a:cubicBezTo>
                    <a:pt x="316356" y="554103"/>
                    <a:pt x="86106" y="784482"/>
                    <a:pt x="86106" y="1067439"/>
                  </a:cubicBezTo>
                  <a:lnTo>
                    <a:pt x="86106" y="1600206"/>
                  </a:lnTo>
                  <a:lnTo>
                    <a:pt x="0" y="1600206"/>
                  </a:lnTo>
                  <a:lnTo>
                    <a:pt x="0" y="1067566"/>
                  </a:lnTo>
                  <a:cubicBezTo>
                    <a:pt x="0" y="737238"/>
                    <a:pt x="268985" y="468124"/>
                    <a:pt x="600454" y="468124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654043" cy="1600332"/>
            </a:xfrm>
            <a:custGeom>
              <a:avLst/>
              <a:gdLst/>
              <a:ahLst/>
              <a:cxnLst/>
              <a:rect l="l" t="t" r="r" b="b"/>
              <a:pathLst>
                <a:path w="1654043" h="1600332">
                  <a:moveTo>
                    <a:pt x="0" y="1600333"/>
                  </a:moveTo>
                  <a:lnTo>
                    <a:pt x="1654043" y="1600333"/>
                  </a:lnTo>
                  <a:lnTo>
                    <a:pt x="16540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874816"/>
            <a:ext cx="4670355" cy="3599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29"/>
              </a:lnSpc>
            </a:pPr>
            <a:r>
              <a:rPr lang="en-US" sz="9999" b="1">
                <a:solidFill>
                  <a:srgbClr val="1F4FD8"/>
                </a:solidFill>
                <a:latin typeface="Inter Bold"/>
                <a:ea typeface="Inter Bold"/>
                <a:cs typeface="Inter Bold"/>
                <a:sym typeface="Inter Bold"/>
              </a:rPr>
              <a:t>THANK </a:t>
            </a:r>
            <a:r>
              <a:rPr lang="en-US" sz="9999" b="1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YOU</a:t>
            </a:r>
          </a:p>
          <a:p>
            <a:pPr algn="l">
              <a:lnSpc>
                <a:spcPts val="3982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Unleash the Power of Data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002382"/>
            <a:ext cx="2436886" cy="41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Thynk Unlimited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Custom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Inter Bold</vt:lpstr>
      <vt:lpstr>League Spartan</vt:lpstr>
      <vt:lpstr>Canva Sans Bold</vt:lpstr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Data Analysis Presentation_20260309_202356_0000.pdf</dc:title>
  <cp:lastModifiedBy>hetvishah1012@gmail.com</cp:lastModifiedBy>
  <cp:revision>1</cp:revision>
  <dcterms:created xsi:type="dcterms:W3CDTF">2006-08-16T00:00:00Z</dcterms:created>
  <dcterms:modified xsi:type="dcterms:W3CDTF">2026-03-11T07:24:58Z</dcterms:modified>
  <dc:identifier>DAHDd-uNkCg</dc:identifier>
</cp:coreProperties>
</file>